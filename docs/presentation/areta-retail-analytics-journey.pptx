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Areta Mountain Systems is a fictional multi-brand outdoor retailer. Everything in the project, from the stores to the sales, is generated by my own Python pipeline, so I could build the full analytics stack without touching anyone's real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thread through the whole project is that Power BI, the web app and the SQL suite all read the same warehouse, so the numbers can't drift between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product photos were generated with ChatGPT from my own prompts, so they show invented Areta products rather than real branded goods.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lives in git as a Power BI Project, so every measure is text I can diff and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web app was a deliberate counterweight to Power BI: no licences, nothing to install, and the same warehouse underneath.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README has twenty of these, each with what broke, why, and how I fixed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hyperlink" Target="https://areta-retail-analytics.vercel.app/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GOSS1984/areta-retail-analytics" TargetMode="External"/><Relationship Id="rId4" Type="http://schemas.openxmlformats.org/officeDocument/2006/relationships/hyperlink" Target="https://areta-retail-analytics.vercel.app/" TargetMode="External"/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mg/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1A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00141A">
              <a:alpha val="85000"/>
            </a:srgbClr>
          </a:solidFill>
          <a:ln/>
        </p:spPr>
      </p:sp>
      <p:pic>
        <p:nvPicPr>
          <p:cNvPr id="5" name="Image 1" descr="/home/claude/deck/img/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85800"/>
            <a:ext cx="1828800" cy="108508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19659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0A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 E T A   R E T A I L   A N A L Y T I C S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2468880"/>
            <a:ext cx="5852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From a blank page to a live analytics suite</a:t>
            </a:r>
            <a:endParaRPr lang="en-US" sz="38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44805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built a fictional outdoor retailer, its data, a Power BI report and a web app, end to end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57607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Goss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·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mg/featu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23760" y="0"/>
            <a:ext cx="496793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0A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AIM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7724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retailer, three ways to see the same numbers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24028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wanted a portfolio piece that looks and works like a real retail analytics suite, built the way I'd build one at work: business questions first, then the data, the model and the reports.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611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0AA6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3611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and the brief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1788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0AA6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41788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Inventing the business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7457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0AA6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474573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data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53126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0AA6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53126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BI model and report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749040" y="3611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0AA6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251960" y="3611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app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749040" y="41788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0AA6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251960" y="41788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the numbers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749040" y="47457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0AA6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251960" y="474573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and learnings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749040" y="53126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0AA6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251960" y="53126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and what's next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0A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IDEA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Why build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14600" cy="3977640"/>
          </a:xfrm>
          <a:prstGeom prst="roundRect">
            <a:avLst>
              <a:gd name="adj" fmla="val 2909"/>
            </a:avLst>
          </a:prstGeom>
          <a:solidFill>
            <a:srgbClr val="0A2A33"/>
          </a:solidFill>
          <a:ln w="9525">
            <a:solidFill>
              <a:srgbClr val="1C46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4460" y="2331720"/>
            <a:ext cx="1005840" cy="1005840"/>
          </a:xfrm>
          <a:prstGeom prst="ellipse">
            <a:avLst/>
          </a:prstGeom>
          <a:solidFill>
            <a:srgbClr val="003744"/>
          </a:solidFill>
          <a:ln w="15875">
            <a:solidFill>
              <a:srgbClr val="D0AA6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25831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5204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A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947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Background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29768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work in retail merchandising and wanted to show the whole journey, not just a finished dashboard.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256" y="274320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93008" y="1965960"/>
            <a:ext cx="2514600" cy="3977640"/>
          </a:xfrm>
          <a:prstGeom prst="roundRect">
            <a:avLst>
              <a:gd name="adj" fmla="val 2909"/>
            </a:avLst>
          </a:prstGeom>
          <a:solidFill>
            <a:srgbClr val="0A2A33"/>
          </a:solidFill>
          <a:ln w="9525">
            <a:solidFill>
              <a:srgbClr val="1C465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247388" y="2331720"/>
            <a:ext cx="1005840" cy="1005840"/>
          </a:xfrm>
          <a:prstGeom prst="ellipse">
            <a:avLst/>
          </a:prstGeom>
          <a:solidFill>
            <a:srgbClr val="003744"/>
          </a:solidFill>
          <a:ln w="15875">
            <a:solidFill>
              <a:srgbClr val="D0AA62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25831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493008" y="35204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A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3675888" y="37947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Objective</a:t>
            </a:r>
            <a:endParaRPr lang="en-US" sz="1900" dirty="0"/>
          </a:p>
        </p:txBody>
      </p:sp>
      <p:sp>
        <p:nvSpPr>
          <p:cNvPr id="16" name="Text 11"/>
          <p:cNvSpPr txBox="1"/>
          <p:nvPr/>
        </p:nvSpPr>
        <p:spPr>
          <a:xfrm>
            <a:off x="3721608" y="429768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synthetic retailer feeding a Power BI report, a web app and a SQL suite from the same data.</a:t>
            </a:r>
            <a:endParaRPr lang="en-US" sz="14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184" y="2743200"/>
            <a:ext cx="27432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345936" y="1965960"/>
            <a:ext cx="2514600" cy="3977640"/>
          </a:xfrm>
          <a:prstGeom prst="roundRect">
            <a:avLst>
              <a:gd name="adj" fmla="val 2909"/>
            </a:avLst>
          </a:prstGeom>
          <a:solidFill>
            <a:srgbClr val="0A2A33"/>
          </a:solidFill>
          <a:ln w="9525">
            <a:solidFill>
              <a:srgbClr val="1C465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7100316" y="2331720"/>
            <a:ext cx="1005840" cy="1005840"/>
          </a:xfrm>
          <a:prstGeom prst="ellipse">
            <a:avLst/>
          </a:prstGeom>
          <a:solidFill>
            <a:srgbClr val="003744"/>
          </a:solidFill>
          <a:ln w="15875">
            <a:solidFill>
              <a:srgbClr val="D0AA62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776" y="2583180"/>
            <a:ext cx="502920" cy="5029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345936" y="35204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A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6528816" y="37947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My role</a:t>
            </a:r>
            <a:endParaRPr lang="en-US" sz="1900" dirty="0"/>
          </a:p>
        </p:txBody>
      </p:sp>
      <p:sp>
        <p:nvSpPr>
          <p:cNvPr id="23" name="Text 16"/>
          <p:cNvSpPr txBox="1"/>
          <p:nvPr/>
        </p:nvSpPr>
        <p:spPr>
          <a:xfrm>
            <a:off x="6574536" y="429768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Everything: the brand, the data generator, the model, the report, the web app and the docs.</a:t>
            </a:r>
            <a:endParaRPr lang="en-US" sz="14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7112" y="2743200"/>
            <a:ext cx="274320" cy="27432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198864" y="1965960"/>
            <a:ext cx="2514600" cy="3977640"/>
          </a:xfrm>
          <a:prstGeom prst="roundRect">
            <a:avLst>
              <a:gd name="adj" fmla="val 2909"/>
            </a:avLst>
          </a:prstGeom>
          <a:solidFill>
            <a:srgbClr val="0A2A33"/>
          </a:solidFill>
          <a:ln w="9525">
            <a:solidFill>
              <a:srgbClr val="1C4652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9953244" y="2331720"/>
            <a:ext cx="1005840" cy="1005840"/>
          </a:xfrm>
          <a:prstGeom prst="ellipse">
            <a:avLst/>
          </a:prstGeom>
          <a:solidFill>
            <a:srgbClr val="003744"/>
          </a:solidFill>
          <a:ln w="15875">
            <a:solidFill>
              <a:srgbClr val="D0AA62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4704" y="2583180"/>
            <a:ext cx="502920" cy="50292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9198864" y="35204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A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0"/>
          <p:cNvSpPr txBox="1"/>
          <p:nvPr/>
        </p:nvSpPr>
        <p:spPr>
          <a:xfrm>
            <a:off x="9381744" y="37947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Outcome</a:t>
            </a:r>
            <a:endParaRPr lang="en-US" sz="1900" dirty="0"/>
          </a:p>
        </p:txBody>
      </p:sp>
      <p:sp>
        <p:nvSpPr>
          <p:cNvPr id="30" name="Text 21"/>
          <p:cNvSpPr txBox="1"/>
          <p:nvPr/>
        </p:nvSpPr>
        <p:spPr>
          <a:xfrm>
            <a:off x="9427464" y="429768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documented project that answers real trading questions and shows how I work.</a:t>
            </a:r>
            <a:endParaRPr lang="en-US" sz="1400" dirty="0"/>
          </a:p>
        </p:txBody>
      </p:sp>
      <p:sp>
        <p:nvSpPr>
          <p:cNvPr id="31" name="Text 22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0A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INVENTING THE BUSINESS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Meet Areta Mountain Systems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fictional outdoor retailer with its own brand, stores and range. Real retail structure, none of it real.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577840" cy="3717232"/>
          </a:xfrm>
          <a:prstGeom prst="rect">
            <a:avLst/>
          </a:prstGeom>
          <a:solidFill>
            <a:srgbClr val="003744"/>
          </a:solidFill>
          <a:ln w="9525">
            <a:solidFill>
              <a:srgbClr val="1C4652"/>
            </a:solidFill>
            <a:prstDash val="solid"/>
          </a:ln>
        </p:spPr>
      </p:sp>
      <p:pic>
        <p:nvPicPr>
          <p:cNvPr id="6" name="Image 0" descr="/home/claude/deck/img/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48840"/>
            <a:ext cx="5577840" cy="37172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59758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brand board I designed everything from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675120" y="214884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0A2A33"/>
          </a:solidFill>
          <a:ln w="9525">
            <a:solidFill>
              <a:srgbClr val="1C465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03720" y="22585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0AA6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903720" y="2834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189720" y="214884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0A2A33"/>
          </a:solidFill>
          <a:ln w="9525">
            <a:solidFill>
              <a:srgbClr val="1C465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418320" y="22585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0AA6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361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9418320" y="2834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and concessions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75120" y="3401568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0A2A33"/>
          </a:solidFill>
          <a:ln w="9525">
            <a:solidFill>
              <a:srgbClr val="1C465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03720" y="351129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0AA6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6903720" y="40873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markets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189720" y="3401568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0A2A33"/>
          </a:solidFill>
          <a:ln w="9525">
            <a:solidFill>
              <a:srgbClr val="1C465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418320" y="351129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0AA6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907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9418320" y="40873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styles, 12,151 SKUs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675120" y="4654296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0A2A33"/>
          </a:solidFill>
          <a:ln w="9525">
            <a:solidFill>
              <a:srgbClr val="1C465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903720" y="476402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0AA6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3.9M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6903720" y="53400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lines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9189720" y="4654296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0A2A33"/>
          </a:solidFill>
          <a:ln w="9525">
            <a:solidFill>
              <a:srgbClr val="1C465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418320" y="476402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0AA6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2023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9418320" y="53400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starts in March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0A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BUILDING THE 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pipeline in, three outputs out</a:t>
            </a:r>
            <a:endParaRPr lang="en-US" sz="3200" dirty="0"/>
          </a:p>
        </p:txBody>
      </p:sp>
      <p:pic>
        <p:nvPicPr>
          <p:cNvPr id="4" name="Image 0" descr="/home/claude/deck/img/pipeli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7315200" cy="506743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66760" y="1691640"/>
            <a:ext cx="685800" cy="685800"/>
          </a:xfrm>
          <a:prstGeom prst="ellipse">
            <a:avLst/>
          </a:prstGeom>
          <a:solidFill>
            <a:srgbClr val="003744"/>
          </a:solidFill>
          <a:ln w="15875">
            <a:solidFill>
              <a:srgbClr val="D0AA62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210" y="1863090"/>
            <a:ext cx="342900" cy="3429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235440" y="16733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Python generator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9235440" y="2057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steps in about two minutes, with a GitHub Action set up to run it every Monday.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8366760" y="3291840"/>
            <a:ext cx="685800" cy="685800"/>
          </a:xfrm>
          <a:prstGeom prst="ellipse">
            <a:avLst/>
          </a:prstGeom>
          <a:solidFill>
            <a:srgbClr val="003744"/>
          </a:solidFill>
          <a:ln w="15875">
            <a:solidFill>
              <a:srgbClr val="D0AA62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210" y="3463290"/>
            <a:ext cx="342900" cy="3429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235440" y="32735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Parquet star schema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9235440" y="36576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 server anywhere. Every table is a file in the warehouse.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8366760" y="4892040"/>
            <a:ext cx="685800" cy="685800"/>
          </a:xfrm>
          <a:prstGeom prst="ellipse">
            <a:avLst/>
          </a:prstGeom>
          <a:solidFill>
            <a:srgbClr val="003744"/>
          </a:solidFill>
          <a:ln w="15875">
            <a:solidFill>
              <a:srgbClr val="D0AA62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8210" y="5063490"/>
            <a:ext cx="342900" cy="3429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235440" y="4873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Three outputs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9235440" y="52578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BI, a Next.js web app and a DuckDB SQL suite all read the same files.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0A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BUILDING THE 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Making fake data behave like a real business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31520" cy="731520"/>
          </a:xfrm>
          <a:prstGeom prst="ellipse">
            <a:avLst/>
          </a:prstGeom>
          <a:solidFill>
            <a:srgbClr val="003744"/>
          </a:solidFill>
          <a:ln w="15875">
            <a:solidFill>
              <a:srgbClr val="D0AA6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365760" cy="365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508760" y="2148840"/>
            <a:ext cx="1847088" cy="0"/>
          </a:xfrm>
          <a:prstGeom prst="line">
            <a:avLst/>
          </a:prstGeom>
          <a:noFill/>
          <a:ln w="19050">
            <a:solidFill>
              <a:srgbClr val="1F7486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640080" y="2697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Foundations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10896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364-day business calendar, stores, a four-brand product range, promotions, currencies and VAT.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493008" y="1783080"/>
            <a:ext cx="731520" cy="731520"/>
          </a:xfrm>
          <a:prstGeom prst="ellipse">
            <a:avLst/>
          </a:prstGeom>
          <a:solidFill>
            <a:srgbClr val="003744"/>
          </a:solidFill>
          <a:ln w="15875">
            <a:solidFill>
              <a:srgbClr val="D0AA6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1965960"/>
            <a:ext cx="365760" cy="365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361688" y="2148840"/>
            <a:ext cx="1847088" cy="0"/>
          </a:xfrm>
          <a:prstGeom prst="line">
            <a:avLst/>
          </a:prstGeom>
          <a:noFill/>
          <a:ln w="19050">
            <a:solidFill>
              <a:srgbClr val="1F7486"/>
            </a:solidFill>
            <a:prstDash val="dash"/>
          </a:ln>
        </p:spPr>
      </p:sp>
      <p:sp>
        <p:nvSpPr>
          <p:cNvPr id="12" name="Text 8"/>
          <p:cNvSpPr txBox="1"/>
          <p:nvPr/>
        </p:nvSpPr>
        <p:spPr>
          <a:xfrm>
            <a:off x="3493008" y="2697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Simulation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493008" y="310896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at invoice-line level, with seasonality, discounts, multi-buys, returns and store traffic.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345936" y="1783080"/>
            <a:ext cx="731520" cy="731520"/>
          </a:xfrm>
          <a:prstGeom prst="ellipse">
            <a:avLst/>
          </a:prstGeom>
          <a:solidFill>
            <a:srgbClr val="003744"/>
          </a:solidFill>
          <a:ln w="15875">
            <a:solidFill>
              <a:srgbClr val="D0AA6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1965960"/>
            <a:ext cx="365760" cy="3657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214616" y="2148840"/>
            <a:ext cx="1847088" cy="0"/>
          </a:xfrm>
          <a:prstGeom prst="line">
            <a:avLst/>
          </a:prstGeom>
          <a:noFill/>
          <a:ln w="19050">
            <a:solidFill>
              <a:srgbClr val="1F7486"/>
            </a:solidFill>
            <a:prstDash val="dash"/>
          </a:ln>
        </p:spPr>
      </p:sp>
      <p:sp>
        <p:nvSpPr>
          <p:cNvPr id="17" name="Text 12"/>
          <p:cNvSpPr txBox="1"/>
          <p:nvPr/>
        </p:nvSpPr>
        <p:spPr>
          <a:xfrm>
            <a:off x="6345936" y="2697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Realism rounds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345936" y="310896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styles and a long tail, Black Friday and Christmas, growth that differs by area, and a web funnel.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9198864" y="1783080"/>
            <a:ext cx="731520" cy="731520"/>
          </a:xfrm>
          <a:prstGeom prst="ellipse">
            <a:avLst/>
          </a:prstGeom>
          <a:solidFill>
            <a:srgbClr val="003744"/>
          </a:solidFill>
          <a:ln w="15875">
            <a:solidFill>
              <a:srgbClr val="D0AA62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1744" y="19659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98864" y="2697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Quality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9198864" y="310896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deliberately messy raw file, a cleaning step, and an 80-check audit at the end of every run.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640080" y="475488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003744"/>
          </a:solidFill>
          <a:ln w="9525">
            <a:solidFill>
              <a:srgbClr val="1C4652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914400" y="49560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D9A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1.00×</a:t>
            </a:r>
            <a:endParaRPr lang="en-US" sz="34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040" y="5102352"/>
            <a:ext cx="384048" cy="38404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108960" y="495604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0AA6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1.5×</a:t>
            </a:r>
            <a:endParaRPr lang="en-US" sz="3400" dirty="0"/>
          </a:p>
        </p:txBody>
      </p:sp>
      <p:sp>
        <p:nvSpPr>
          <p:cNvPr id="27" name="Text 20"/>
          <p:cNvSpPr txBox="1"/>
          <p:nvPr/>
        </p:nvSpPr>
        <p:spPr>
          <a:xfrm>
            <a:off x="914400" y="5577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vs a normal Friday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5029200" y="493776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my own data in SQL showed Black Friday trading exactly like any other Friday. The flag was in the calendar, but nothing used it. Testing the data like a real business is what made it realistic.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0A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THE POWER BI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model built on patterns, not one-offs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0AA6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472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0AA6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26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931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in a star schema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572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0AA6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349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groups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069080" y="173736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0A2A33"/>
          </a:solidFill>
          <a:ln w="9525">
            <a:solidFill>
              <a:srgbClr val="1C46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2011680"/>
            <a:ext cx="640080" cy="640080"/>
          </a:xfrm>
          <a:prstGeom prst="ellipse">
            <a:avLst/>
          </a:prstGeom>
          <a:solidFill>
            <a:srgbClr val="003744"/>
          </a:solidFill>
          <a:ln w="15875">
            <a:solidFill>
              <a:srgbClr val="D0AA62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3420" y="2171700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120640" y="2011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Last year at any grain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343400" y="2761488"/>
            <a:ext cx="3108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LY pattern moves the business year back and carries the period, week and weekday across, so it works by year, week or day.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863840" y="173736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0A2A33"/>
          </a:solidFill>
          <a:ln w="9525">
            <a:solidFill>
              <a:srgbClr val="1C465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38160" y="2011680"/>
            <a:ext cx="640080" cy="640080"/>
          </a:xfrm>
          <a:prstGeom prst="ellipse">
            <a:avLst/>
          </a:prstGeom>
          <a:solidFill>
            <a:srgbClr val="003744"/>
          </a:solidFill>
          <a:ln w="15875">
            <a:solidFill>
              <a:srgbClr val="D0AA62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8180" y="217170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915400" y="2011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Targets below period level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8138160" y="2761488"/>
            <a:ext cx="3108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set per period. Spreading them across days by last year's weekday pattern makes weekly charts honest.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069080" y="393192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0A2A33"/>
          </a:solidFill>
          <a:ln w="9525">
            <a:solidFill>
              <a:srgbClr val="1C465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343400" y="4206240"/>
            <a:ext cx="640080" cy="640080"/>
          </a:xfrm>
          <a:prstGeom prst="ellipse">
            <a:avLst/>
          </a:prstGeom>
          <a:solidFill>
            <a:srgbClr val="003744"/>
          </a:solidFill>
          <a:ln w="15875">
            <a:solidFill>
              <a:srgbClr val="D0AA62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420" y="4366260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120640" y="4206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VAT and currency in one place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4343400" y="4956048"/>
            <a:ext cx="3108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groups switch every money measure to include VAT or convert it, without a duplicate of each measure.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7863840" y="393192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0A2A33"/>
          </a:solidFill>
          <a:ln w="9525">
            <a:solidFill>
              <a:srgbClr val="1C465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138160" y="4206240"/>
            <a:ext cx="640080" cy="640080"/>
          </a:xfrm>
          <a:prstGeom prst="ellipse">
            <a:avLst/>
          </a:prstGeom>
          <a:solidFill>
            <a:srgbClr val="003744"/>
          </a:solidFill>
          <a:ln w="15875">
            <a:solidFill>
              <a:srgbClr val="D0AA62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8180" y="4366260"/>
            <a:ext cx="320040" cy="32004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915400" y="4206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Stock as a balance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8138160" y="4956048"/>
            <a:ext cx="3108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takes the latest weekly snapshot instead of adding weeks together, and weeks of cover uses the recent rate of sale.</a:t>
            </a:r>
            <a:endParaRPr lang="en-US" sz="1250" dirty="0"/>
          </a:p>
        </p:txBody>
      </p:sp>
      <p:sp>
        <p:nvSpPr>
          <p:cNvPr id="30" name="Text 24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0A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THE POWER BI REPORT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Ten pages, each answering one question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29000" cy="1965246"/>
          </a:xfrm>
          <a:prstGeom prst="rect">
            <a:avLst/>
          </a:prstGeom>
          <a:solidFill>
            <a:srgbClr val="FFFFFF"/>
          </a:solidFill>
          <a:ln w="9525">
            <a:solidFill>
              <a:srgbClr val="1C46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home/claude/deck/img/pbi-overvi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3429000" cy="196524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297680" y="1691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0AA6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Overview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297680" y="2103120"/>
            <a:ext cx="1600200" cy="1462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business doing, and what drove it?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3640" y="1645920"/>
            <a:ext cx="3429000" cy="1965246"/>
          </a:xfrm>
          <a:prstGeom prst="rect">
            <a:avLst/>
          </a:prstGeom>
          <a:solidFill>
            <a:srgbClr val="FFFFFF"/>
          </a:solidFill>
          <a:ln w="9525">
            <a:solidFill>
              <a:srgbClr val="1C46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9" name="Image 1" descr="/home/claude/deck/img/pbi-sal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45920"/>
            <a:ext cx="3429000" cy="196524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921240" y="1691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0AA6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Sales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9921240" y="2103120"/>
            <a:ext cx="1600200" cy="1462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we trading, and where is the growth?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3931920"/>
            <a:ext cx="3429000" cy="1965246"/>
          </a:xfrm>
          <a:prstGeom prst="rect">
            <a:avLst/>
          </a:prstGeom>
          <a:solidFill>
            <a:srgbClr val="FFFFFF"/>
          </a:solidFill>
          <a:ln w="9525">
            <a:solidFill>
              <a:srgbClr val="1C46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13" name="Image 2" descr="/home/claude/deck/img/pbi-digital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31920"/>
            <a:ext cx="3429000" cy="196524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297680" y="3977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0AA6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Digital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4297680" y="4389120"/>
            <a:ext cx="1600200" cy="1462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shoppers drop out online?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3931920"/>
            <a:ext cx="3429000" cy="1965246"/>
          </a:xfrm>
          <a:prstGeom prst="rect">
            <a:avLst/>
          </a:prstGeom>
          <a:solidFill>
            <a:srgbClr val="FFFFFF"/>
          </a:solidFill>
          <a:ln w="9525">
            <a:solidFill>
              <a:srgbClr val="1C46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17" name="Image 3" descr="/home/claude/deck/img/pbi-financ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931920"/>
            <a:ext cx="3429000" cy="196524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921240" y="3977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0AA6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Finance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9921240" y="4389120"/>
            <a:ext cx="1600200" cy="1462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money go before profit?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Products, Categories, Retail, Promo, Stock and Data Quality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0A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THE POWER BI REPORT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Inside one page: Sales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7589520" cy="4349744"/>
          </a:xfrm>
          <a:prstGeom prst="rect">
            <a:avLst/>
          </a:prstGeom>
          <a:solidFill>
            <a:srgbClr val="FFFFFF"/>
          </a:solidFill>
          <a:ln w="9525">
            <a:solidFill>
              <a:srgbClr val="1C46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home/claude/deck/img/pbi-sal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7589520" cy="43497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95360" y="1645920"/>
            <a:ext cx="594360" cy="594360"/>
          </a:xfrm>
          <a:prstGeom prst="ellipse">
            <a:avLst/>
          </a:prstGeom>
          <a:solidFill>
            <a:srgbClr val="003744"/>
          </a:solidFill>
          <a:ln w="15875">
            <a:solidFill>
              <a:srgbClr val="D0AA62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3950" y="1794510"/>
            <a:ext cx="297180" cy="2971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326880" y="1600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KPI cards that explain themselves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326880" y="21945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shows the value against last year and target, coloured by direction, with a weekly sparkline.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595360" y="3108960"/>
            <a:ext cx="594360" cy="594360"/>
          </a:xfrm>
          <a:prstGeom prst="ellipse">
            <a:avLst/>
          </a:prstGeom>
          <a:solidFill>
            <a:srgbClr val="003744"/>
          </a:solidFill>
          <a:ln w="15875">
            <a:solidFill>
              <a:srgbClr val="D0AA62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950" y="3257550"/>
            <a:ext cx="297180" cy="2971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326880" y="3063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trading calendar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9326880" y="3657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Deneb heatmap of every day in the year. Black Friday and Boxing Day stand out at a glance.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8595360" y="4572000"/>
            <a:ext cx="594360" cy="594360"/>
          </a:xfrm>
          <a:prstGeom prst="ellipse">
            <a:avLst/>
          </a:prstGeom>
          <a:solidFill>
            <a:srgbClr val="003744"/>
          </a:solidFill>
          <a:ln w="15875">
            <a:solidFill>
              <a:srgbClr val="D0AA62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950" y="4720590"/>
            <a:ext cx="297180" cy="29718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326880" y="45262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the growth came from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9326880" y="5120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by market and channel. Online grows everywhere; French stores go backwards.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7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THE WEB APP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A1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same numbers, in the browser</a:t>
            </a:r>
            <a:endParaRPr lang="en-US" sz="3200" dirty="0"/>
          </a:p>
        </p:txBody>
      </p:sp>
      <p:pic>
        <p:nvPicPr>
          <p:cNvPr id="4" name="Image 0" descr="/home/claude/deck/img/dev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737360"/>
            <a:ext cx="7315200" cy="36409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92440" y="1691640"/>
            <a:ext cx="566928" cy="566928"/>
          </a:xfrm>
          <a:prstGeom prst="ellipse">
            <a:avLst/>
          </a:prstGeom>
          <a:solidFill>
            <a:srgbClr val="003744"/>
          </a:solidFill>
          <a:ln w="15875">
            <a:solidFill>
              <a:srgbClr val="003744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4172" y="1833372"/>
            <a:ext cx="283464" cy="28346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823960" y="165506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A1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server, no database</a:t>
            </a:r>
            <a:endParaRPr lang="en-US" sz="1450" dirty="0"/>
          </a:p>
        </p:txBody>
      </p:sp>
      <p:sp>
        <p:nvSpPr>
          <p:cNvPr id="8" name="Text 4"/>
          <p:cNvSpPr txBox="1"/>
          <p:nvPr/>
        </p:nvSpPr>
        <p:spPr>
          <a:xfrm>
            <a:off x="8823960" y="200253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runs inside the browser and reads the Parquet files directly.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8092440" y="2770632"/>
            <a:ext cx="566928" cy="566928"/>
          </a:xfrm>
          <a:prstGeom prst="ellipse">
            <a:avLst/>
          </a:prstGeom>
          <a:solidFill>
            <a:srgbClr val="003744"/>
          </a:solidFill>
          <a:ln w="15875">
            <a:solidFill>
              <a:srgbClr val="003744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4172" y="2912364"/>
            <a:ext cx="283464" cy="28346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823960" y="273405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A1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Built for any screen</a:t>
            </a:r>
            <a:endParaRPr lang="en-US" sz="1450" dirty="0"/>
          </a:p>
        </p:txBody>
      </p:sp>
      <p:sp>
        <p:nvSpPr>
          <p:cNvPr id="12" name="Text 7"/>
          <p:cNvSpPr txBox="1"/>
          <p:nvPr/>
        </p:nvSpPr>
        <p:spPr>
          <a:xfrm>
            <a:off x="8823960" y="30815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drawer, tablet icon rail and a fit-to-screen desktop layout.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8092440" y="3849624"/>
            <a:ext cx="566928" cy="566928"/>
          </a:xfrm>
          <a:prstGeom prst="ellipse">
            <a:avLst/>
          </a:prstGeom>
          <a:solidFill>
            <a:srgbClr val="003744"/>
          </a:solidFill>
          <a:ln w="15875">
            <a:solidFill>
              <a:srgbClr val="003744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4172" y="3991356"/>
            <a:ext cx="283464" cy="28346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823960" y="38130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A1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Filters in the URL</a:t>
            </a:r>
            <a:endParaRPr lang="en-US" sz="1450" dirty="0"/>
          </a:p>
        </p:txBody>
      </p:sp>
      <p:sp>
        <p:nvSpPr>
          <p:cNvPr id="16" name="Text 10"/>
          <p:cNvSpPr txBox="1"/>
          <p:nvPr/>
        </p:nvSpPr>
        <p:spPr>
          <a:xfrm>
            <a:off x="8823960" y="41605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filtered view is a link you can bookmark or share.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8092440" y="4928616"/>
            <a:ext cx="566928" cy="566928"/>
          </a:xfrm>
          <a:prstGeom prst="ellipse">
            <a:avLst/>
          </a:prstGeom>
          <a:solidFill>
            <a:srgbClr val="003744"/>
          </a:solidFill>
          <a:ln w="15875">
            <a:solidFill>
              <a:srgbClr val="003744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4172" y="5070348"/>
            <a:ext cx="283464" cy="28346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823960" y="48920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A1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Live on Vercel</a:t>
            </a:r>
            <a:endParaRPr lang="en-US" sz="1450" dirty="0"/>
          </a:p>
        </p:txBody>
      </p:sp>
      <p:sp>
        <p:nvSpPr>
          <p:cNvPr id="20" name="Text 13"/>
          <p:cNvSpPr txBox="1"/>
          <p:nvPr/>
        </p:nvSpPr>
        <p:spPr>
          <a:xfrm>
            <a:off x="8823960" y="523951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pages, built with Next.js and ECharts.</a:t>
            </a:r>
            <a:endParaRPr lang="en-US" sz="1250" dirty="0"/>
          </a:p>
        </p:txBody>
      </p:sp>
      <p:sp>
        <p:nvSpPr>
          <p:cNvPr id="21" name="Text 14"/>
          <p:cNvSpPr txBox="1"/>
          <p:nvPr/>
        </p:nvSpPr>
        <p:spPr>
          <a:xfrm>
            <a:off x="64008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748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areta-retail-analytics.vercel.app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0A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TRUSTING THE NUMBERS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report that checks its own 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949440" cy="3982898"/>
          </a:xfrm>
          <a:prstGeom prst="rect">
            <a:avLst/>
          </a:prstGeom>
          <a:solidFill>
            <a:srgbClr val="FFFFFF"/>
          </a:solidFill>
          <a:ln w="9525">
            <a:solidFill>
              <a:srgbClr val="1C46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home/claude/deck/img/pbi-data-qualit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6949440" cy="398289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46720" y="16002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0AA6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97.4%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6517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scored checks pass: 74 of 76, with two known warnings I'd want flagged anyway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3794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937260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every run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4572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9372600" y="4572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5349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348K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9372600" y="5349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fixed by cleaning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0A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CHALLENGES AND LEARNINGS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went wrong, and what I learnt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6002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A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26280" y="16002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A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DID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183880" y="16002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0A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3520440" cy="932688"/>
          </a:xfrm>
          <a:prstGeom prst="roundRect">
            <a:avLst>
              <a:gd name="adj" fmla="val 7843"/>
            </a:avLst>
          </a:prstGeom>
          <a:solidFill>
            <a:srgbClr val="003744"/>
          </a:solidFill>
          <a:ln w="9525">
            <a:solidFill>
              <a:srgbClr val="1C46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039112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three to four times too high, but only with a slicer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520440" cy="932688"/>
          </a:xfrm>
          <a:prstGeom prst="roundRect">
            <a:avLst>
              <a:gd name="adj" fmla="val 7843"/>
            </a:avLst>
          </a:prstGeom>
          <a:solidFill>
            <a:srgbClr val="0A2A33"/>
          </a:solidFill>
          <a:ln w="9525">
            <a:solidFill>
              <a:srgbClr val="1C46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2039112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the date-to-period relationship inactive and carried filters across with TREATAS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1965960"/>
            <a:ext cx="3520440" cy="932688"/>
          </a:xfrm>
          <a:prstGeom prst="roundRect">
            <a:avLst>
              <a:gd name="adj" fmla="val 7843"/>
            </a:avLst>
          </a:prstGeom>
          <a:solidFill>
            <a:srgbClr val="0A2A33"/>
          </a:solidFill>
          <a:ln w="9525">
            <a:solidFill>
              <a:srgbClr val="1C465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2039112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fight the relationship graph. Be explicit in the measure instead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035808"/>
            <a:ext cx="3520440" cy="932688"/>
          </a:xfrm>
          <a:prstGeom prst="roundRect">
            <a:avLst>
              <a:gd name="adj" fmla="val 7843"/>
            </a:avLst>
          </a:prstGeom>
          <a:solidFill>
            <a:srgbClr val="003744"/>
          </a:solidFill>
          <a:ln w="9525">
            <a:solidFill>
              <a:srgbClr val="1C46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108960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 came out the same, so every variance read zero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3035808"/>
            <a:ext cx="3520440" cy="932688"/>
          </a:xfrm>
          <a:prstGeom prst="roundRect">
            <a:avLst>
              <a:gd name="adj" fmla="val 7843"/>
            </a:avLst>
          </a:prstGeom>
          <a:solidFill>
            <a:srgbClr val="0A2A33"/>
          </a:solidFill>
          <a:ln w="9525">
            <a:solidFill>
              <a:srgbClr val="1C465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3108960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growth that differs by channel, category, market and store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55280" y="3035808"/>
            <a:ext cx="3520440" cy="932688"/>
          </a:xfrm>
          <a:prstGeom prst="roundRect">
            <a:avLst>
              <a:gd name="adj" fmla="val 7843"/>
            </a:avLst>
          </a:prstGeom>
          <a:solidFill>
            <a:srgbClr val="0A2A33"/>
          </a:solidFill>
          <a:ln w="9525">
            <a:solidFill>
              <a:srgbClr val="1C465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83880" y="3108960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has to be able to move the measure you're testing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105656"/>
            <a:ext cx="3520440" cy="932688"/>
          </a:xfrm>
          <a:prstGeom prst="roundRect">
            <a:avLst>
              <a:gd name="adj" fmla="val 7843"/>
            </a:avLst>
          </a:prstGeom>
          <a:solidFill>
            <a:srgbClr val="003744"/>
          </a:solidFill>
          <a:ln w="9525">
            <a:solidFill>
              <a:srgbClr val="1C465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4178808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added four weeks together into one huge number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97680" y="4105656"/>
            <a:ext cx="3520440" cy="932688"/>
          </a:xfrm>
          <a:prstGeom prst="roundRect">
            <a:avLst>
              <a:gd name="adj" fmla="val 7843"/>
            </a:avLst>
          </a:prstGeom>
          <a:solidFill>
            <a:srgbClr val="0A2A33"/>
          </a:solidFill>
          <a:ln w="9525">
            <a:solidFill>
              <a:srgbClr val="1C465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26280" y="4178808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now takes the last snapshot in the filter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955280" y="4105656"/>
            <a:ext cx="3520440" cy="932688"/>
          </a:xfrm>
          <a:prstGeom prst="roundRect">
            <a:avLst>
              <a:gd name="adj" fmla="val 7843"/>
            </a:avLst>
          </a:prstGeom>
          <a:solidFill>
            <a:srgbClr val="0A2A33"/>
          </a:solidFill>
          <a:ln w="9525">
            <a:solidFill>
              <a:srgbClr val="1C465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83880" y="4178808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whether a measure is a flow or a balance before you sum it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175504"/>
            <a:ext cx="3520440" cy="932688"/>
          </a:xfrm>
          <a:prstGeom prst="roundRect">
            <a:avLst>
              <a:gd name="adj" fmla="val 7843"/>
            </a:avLst>
          </a:prstGeom>
          <a:solidFill>
            <a:srgbClr val="003744"/>
          </a:solidFill>
          <a:ln w="9525">
            <a:solidFill>
              <a:srgbClr val="1C465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8680" y="5248656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app worked in the build but failed in a real browser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97680" y="5175504"/>
            <a:ext cx="3520440" cy="932688"/>
          </a:xfrm>
          <a:prstGeom prst="roundRect">
            <a:avLst>
              <a:gd name="adj" fmla="val 7843"/>
            </a:avLst>
          </a:prstGeom>
          <a:solidFill>
            <a:srgbClr val="0A2A33"/>
          </a:solidFill>
          <a:ln w="9525">
            <a:solidFill>
              <a:srgbClr val="1C465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26280" y="5248656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Fetched the file bytes and handed them to DuckDB directly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955280" y="5175504"/>
            <a:ext cx="3520440" cy="932688"/>
          </a:xfrm>
          <a:prstGeom prst="roundRect">
            <a:avLst>
              <a:gd name="adj" fmla="val 7843"/>
            </a:avLst>
          </a:prstGeom>
          <a:solidFill>
            <a:srgbClr val="0A2A33"/>
          </a:solidFill>
          <a:ln w="9525">
            <a:solidFill>
              <a:srgbClr val="1C465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83880" y="5248656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replaces running it where your users will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mg/bann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23774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0141A">
              <a:alpha val="6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0A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OUTCOMES AND WHAT'S NEXT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it's landed, and where it goes next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7432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0A2A33"/>
          </a:solidFill>
          <a:ln w="9525">
            <a:solidFill>
              <a:srgbClr val="1C465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971800"/>
            <a:ext cx="548640" cy="548640"/>
          </a:xfrm>
          <a:prstGeom prst="ellipse">
            <a:avLst/>
          </a:prstGeom>
          <a:solidFill>
            <a:srgbClr val="003744"/>
          </a:solidFill>
          <a:ln w="15875">
            <a:solidFill>
              <a:srgbClr val="D0AA6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1089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0AA6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36393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pages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429000" y="27432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0A2A33"/>
          </a:solidFill>
          <a:ln w="9525">
            <a:solidFill>
              <a:srgbClr val="1C465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657600" y="2971800"/>
            <a:ext cx="548640" cy="548640"/>
          </a:xfrm>
          <a:prstGeom prst="ellipse">
            <a:avLst/>
          </a:prstGeom>
          <a:solidFill>
            <a:srgbClr val="003744"/>
          </a:solidFill>
          <a:ln w="15875">
            <a:solidFill>
              <a:srgbClr val="D0AA62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310896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343400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0AA6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2800" dirty="0"/>
          </a:p>
        </p:txBody>
      </p:sp>
      <p:sp>
        <p:nvSpPr>
          <p:cNvPr id="15" name="Text 10"/>
          <p:cNvSpPr txBox="1"/>
          <p:nvPr/>
        </p:nvSpPr>
        <p:spPr>
          <a:xfrm>
            <a:off x="3657600" y="36393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pages, live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217920" y="27432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0A2A33"/>
          </a:solidFill>
          <a:ln w="9525">
            <a:solidFill>
              <a:srgbClr val="1C465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46520" y="2971800"/>
            <a:ext cx="548640" cy="548640"/>
          </a:xfrm>
          <a:prstGeom prst="ellipse">
            <a:avLst/>
          </a:prstGeom>
          <a:solidFill>
            <a:srgbClr val="003744"/>
          </a:solidFill>
          <a:ln w="15875">
            <a:solidFill>
              <a:srgbClr val="D0AA6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10896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132320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0AA6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118</a:t>
            </a:r>
            <a:endParaRPr lang="en-US" sz="2800" dirty="0"/>
          </a:p>
        </p:txBody>
      </p:sp>
      <p:sp>
        <p:nvSpPr>
          <p:cNvPr id="20" name="Text 14"/>
          <p:cNvSpPr txBox="1"/>
          <p:nvPr/>
        </p:nvSpPr>
        <p:spPr>
          <a:xfrm>
            <a:off x="6446520" y="36393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+ 30 exercises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9006840" y="27432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0A2A33"/>
          </a:solidFill>
          <a:ln w="9525">
            <a:solidFill>
              <a:srgbClr val="1C4652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235440" y="2971800"/>
            <a:ext cx="548640" cy="548640"/>
          </a:xfrm>
          <a:prstGeom prst="ellipse">
            <a:avLst/>
          </a:prstGeom>
          <a:solidFill>
            <a:srgbClr val="003744"/>
          </a:solidFill>
          <a:ln w="15875">
            <a:solidFill>
              <a:srgbClr val="D0AA62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310896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921240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0AA6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Weekly</a:t>
            </a:r>
            <a:endParaRPr lang="en-US" sz="2800" dirty="0"/>
          </a:p>
        </p:txBody>
      </p:sp>
      <p:sp>
        <p:nvSpPr>
          <p:cNvPr id="25" name="Text 18"/>
          <p:cNvSpPr txBox="1"/>
          <p:nvPr/>
        </p:nvSpPr>
        <p:spPr>
          <a:xfrm>
            <a:off x="9235440" y="36393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refresh, scheduled in GitHub Actions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4526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0A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640080" y="4937760"/>
            <a:ext cx="548640" cy="548640"/>
          </a:xfrm>
          <a:prstGeom prst="ellipse">
            <a:avLst/>
          </a:prstGeom>
          <a:solidFill>
            <a:srgbClr val="003744"/>
          </a:solidFill>
          <a:ln w="15875">
            <a:solidFill>
              <a:srgbClr val="D0AA62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074920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371600" y="4892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Microsoft Fabric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1371600" y="528523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proof of concept: Lakehouse, Direct Lake and a scheduled pipeline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4389120" y="4937760"/>
            <a:ext cx="548640" cy="548640"/>
          </a:xfrm>
          <a:prstGeom prst="ellipse">
            <a:avLst/>
          </a:prstGeom>
          <a:solidFill>
            <a:srgbClr val="003744"/>
          </a:solidFill>
          <a:ln w="15875">
            <a:solidFill>
              <a:srgbClr val="D0AA62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6280" y="5074920"/>
            <a:ext cx="274320" cy="27432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5120640" y="4892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PL-300 and DP-600</a:t>
            </a:r>
            <a:endParaRPr lang="en-US" sz="1400" dirty="0"/>
          </a:p>
        </p:txBody>
      </p:sp>
      <p:sp>
        <p:nvSpPr>
          <p:cNvPr id="34" name="Text 25"/>
          <p:cNvSpPr txBox="1"/>
          <p:nvPr/>
        </p:nvSpPr>
        <p:spPr>
          <a:xfrm>
            <a:off x="5120640" y="528523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Certifying what the project already shows</a:t>
            </a:r>
            <a:endParaRPr lang="en-US" sz="1250" dirty="0"/>
          </a:p>
        </p:txBody>
      </p:sp>
      <p:sp>
        <p:nvSpPr>
          <p:cNvPr id="35" name="Shape 26"/>
          <p:cNvSpPr/>
          <p:nvPr/>
        </p:nvSpPr>
        <p:spPr>
          <a:xfrm>
            <a:off x="8138160" y="4937760"/>
            <a:ext cx="548640" cy="548640"/>
          </a:xfrm>
          <a:prstGeom prst="ellipse">
            <a:avLst/>
          </a:prstGeom>
          <a:solidFill>
            <a:srgbClr val="003744"/>
          </a:solidFill>
          <a:ln w="15875">
            <a:solidFill>
              <a:srgbClr val="D0AA62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5320" y="5074920"/>
            <a:ext cx="274320" cy="27432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8869680" y="4892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Report polish</a:t>
            </a:r>
            <a:endParaRPr lang="en-US" sz="1400" dirty="0"/>
          </a:p>
        </p:txBody>
      </p:sp>
      <p:sp>
        <p:nvSpPr>
          <p:cNvPr id="38" name="Text 28"/>
          <p:cNvSpPr txBox="1"/>
          <p:nvPr/>
        </p:nvSpPr>
        <p:spPr>
          <a:xfrm>
            <a:off x="8869680" y="528523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 and currency toggles on the pages, and the funnel on the web app</a:t>
            </a:r>
            <a:endParaRPr lang="en-US" sz="1250" dirty="0"/>
          </a:p>
        </p:txBody>
      </p:sp>
      <p:sp>
        <p:nvSpPr>
          <p:cNvPr id="39" name="Text 29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mg/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1A">
              <a:alpha val="75000"/>
            </a:srgbClr>
          </a:solidFill>
          <a:ln/>
        </p:spPr>
      </p:sp>
      <p:pic>
        <p:nvPicPr>
          <p:cNvPr id="4" name="Image 1" descr="/home/claude/deck/img/word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8" y="685800"/>
            <a:ext cx="2926080" cy="291632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0" y="37490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2"/>
          <p:cNvSpPr txBox="1"/>
          <p:nvPr/>
        </p:nvSpPr>
        <p:spPr>
          <a:xfrm>
            <a:off x="0" y="452628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0" y="525780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u="sng" dirty="0">
                <a:solidFill>
                  <a:srgbClr val="D0AA6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github.com/TGOSS1984/areta-retail-analytics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u="sng" dirty="0">
                <a:solidFill>
                  <a:srgbClr val="D0AA6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areta-retail-analytics.vercel.app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Areta Retail Analytics</dc:title>
  <dc:subject>PptxGenJS Presentation</dc:subject>
  <dc:creator>Tom Goss</dc:creator>
  <cp:lastModifiedBy>Tom Goss</cp:lastModifiedBy>
  <cp:revision>1</cp:revision>
  <dcterms:created xsi:type="dcterms:W3CDTF">2026-10-05T15:30:59Z</dcterms:created>
  <dcterms:modified xsi:type="dcterms:W3CDTF">2026-10-05T15:30:59Z</dcterms:modified>
</cp:coreProperties>
</file>